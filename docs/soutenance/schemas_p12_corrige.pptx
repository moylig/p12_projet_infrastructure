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1 /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Architecture technique du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55F7"/>
                </a:solidFill>
                <a:latin typeface="Consolas"/>
              </a:rPr>
              <a:t>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52374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Fichiers RH (XLSX)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" y="299999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161 salariés · PII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20040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34670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Pratiques sportives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82295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déclaratif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23360"/>
            <a:ext cx="242316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24231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69664"/>
            <a:ext cx="21305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Générateur Strava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4645914"/>
            <a:ext cx="21305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JSON API-like · 3948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057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POSTGRESQL 16  ·  base sécurisée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377440"/>
            <a:ext cx="4160520" cy="324612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11880" y="2377440"/>
            <a:ext cx="416052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94760" y="260604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94760" y="2606040"/>
            <a:ext cx="37947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41064" y="275234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raw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4" y="320954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payload JSON brut, jamais modifié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338328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94760" y="3383280"/>
            <a:ext cx="37947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41064" y="352958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staging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41064" y="398678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typé · contraintes · hashé (RLS)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4160520"/>
            <a:ext cx="3794760" cy="6400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94760" y="4160520"/>
            <a:ext cx="37947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41064" y="4306824"/>
            <a:ext cx="350215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4F4F5"/>
                </a:solidFill>
                <a:latin typeface="Segoe UI"/>
              </a:rPr>
              <a:t>marts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1064" y="4764024"/>
            <a:ext cx="3502152" cy="182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94A3B8"/>
                </a:solidFill>
                <a:latin typeface="Segoe UI"/>
              </a:rPr>
              <a:t>sortie analytique, zéro PII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5577840" y="321868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5577840" y="3995928"/>
            <a:ext cx="274320" cy="182880"/>
          </a:xfrm>
          <a:prstGeom prst="down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9476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9476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4106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4106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run_log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4937760"/>
            <a:ext cx="1828800" cy="56692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0" y="4937760"/>
            <a:ext cx="1828800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07024" y="5084064"/>
            <a:ext cx="15361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4F4F5"/>
                </a:solidFill>
                <a:latin typeface="Segoe UI"/>
              </a:rPr>
              <a:t>cache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07024" y="5503164"/>
            <a:ext cx="1536192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Google Maps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310896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12480" y="20574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34D399"/>
                </a:solidFill>
                <a:latin typeface="Consolas"/>
              </a:rPr>
              <a:t>VALIDATION &amp; SORTIES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37744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412480" y="237744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58784" y="252374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Google Maps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299999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distance domicile-travail (+ cache)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200400"/>
            <a:ext cx="3200400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3200400"/>
            <a:ext cx="320040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58784" y="3346704"/>
            <a:ext cx="290779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Great Expectations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3822954"/>
            <a:ext cx="29077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qualité déclarative, bloquante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12480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58784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Slack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alertes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076688" y="4023360"/>
            <a:ext cx="1536192" cy="7132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076688" y="4023360"/>
            <a:ext cx="153619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22992" y="4169664"/>
            <a:ext cx="1243584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4F4F5"/>
                </a:solidFill>
                <a:latin typeface="Segoe UI"/>
              </a:rPr>
              <a:t>PowerBI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22992" y="4645914"/>
            <a:ext cx="12435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KPIs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7863840" y="3429000"/>
            <a:ext cx="41148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907024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F1117"/>
                </a:solidFill>
                <a:latin typeface="Consolas"/>
              </a:rPr>
              <a:t>KESTRA  </a:t>
            </a:r>
            <a:r>
              <a:rPr sz="1200" b="1" i="0">
                <a:solidFill>
                  <a:srgbClr val="0F1117"/>
                </a:solidFill>
                <a:latin typeface="Segoe UI"/>
              </a:rPr>
              <a:t>orchestre le tout — trigger mensuel · replay de l'historique · monitoring · alertes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Flux : sources → couches PostgreSQL → validation &amp; restitution, le tout orchestré par Kestra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2 / FLUX 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Le flux de traitement, étape par étape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323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RH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raw.employees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161 salariés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7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8327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47872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308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Extract sport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59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XLSX → raw.sports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pratiques déclarées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1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19" y="228600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82511" y="248716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Générer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79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39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raw.activities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79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3948 JSON Strava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59" y="228600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59" y="228600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217151" y="248716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7" y="250545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Transformer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39" y="306324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309067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raw → staging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39" y="341985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typage + hash PII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5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052559" y="4480560"/>
            <a:ext cx="2542032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217151" y="4681728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0236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Valider géo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3543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Google 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3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distance réelle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1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19" y="4480560"/>
            <a:ext cx="2542032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382511" y="468172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6772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Qualité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799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3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Great Expectations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799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bloquant si échec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79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83279" y="4480560"/>
            <a:ext cx="254203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547872" y="4681728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33087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Calculer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6616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→ marts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prime + bien-être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480560"/>
            <a:ext cx="2542032" cy="141732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" y="4480560"/>
            <a:ext cx="2542032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13232" y="4681728"/>
            <a:ext cx="457200" cy="457200"/>
          </a:xfrm>
          <a:prstGeom prst="ellipse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onsolas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98448" y="4700016"/>
            <a:ext cx="171907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F4F4F5"/>
                </a:solidFill>
                <a:latin typeface="Segoe UI"/>
              </a:rPr>
              <a:t>Notifier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" y="5257800"/>
            <a:ext cx="2176272" cy="310896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59" y="5285232"/>
            <a:ext cx="208483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34D399"/>
                </a:solidFill>
                <a:latin typeface="Consolas"/>
              </a:rPr>
              <a:t>Slack + audit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1520" y="5614416"/>
            <a:ext cx="21762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94A3B8"/>
                </a:solidFill>
                <a:latin typeface="Segoe UI"/>
              </a:rPr>
              <a:t>trace du run</a:t>
            </a:r>
          </a:p>
        </p:txBody>
      </p:sp>
      <p:sp>
        <p:nvSpPr>
          <p:cNvPr id="65" name="Right Arrow 64"/>
          <p:cNvSpPr/>
          <p:nvPr/>
        </p:nvSpPr>
        <p:spPr>
          <a:xfrm>
            <a:off x="309981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ight Arrow 65"/>
          <p:cNvSpPr/>
          <p:nvPr/>
        </p:nvSpPr>
        <p:spPr>
          <a:xfrm>
            <a:off x="593445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ight Arrow 66"/>
          <p:cNvSpPr/>
          <p:nvPr/>
        </p:nvSpPr>
        <p:spPr>
          <a:xfrm>
            <a:off x="8769095" y="283464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own Arrow 67"/>
          <p:cNvSpPr/>
          <p:nvPr/>
        </p:nvSpPr>
        <p:spPr>
          <a:xfrm>
            <a:off x="10186415" y="3749039"/>
            <a:ext cx="274320" cy="411480"/>
          </a:xfrm>
          <a:prstGeom prst="down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ight Arrow 68"/>
          <p:cNvSpPr/>
          <p:nvPr/>
        </p:nvSpPr>
        <p:spPr>
          <a:xfrm rot="10800000">
            <a:off x="876909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ight Arrow 69"/>
          <p:cNvSpPr/>
          <p:nvPr/>
        </p:nvSpPr>
        <p:spPr>
          <a:xfrm rot="10800000">
            <a:off x="593445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ight Arrow 70"/>
          <p:cNvSpPr/>
          <p:nvPr/>
        </p:nvSpPr>
        <p:spPr>
          <a:xfrm rot="10800000">
            <a:off x="3099815" y="5029200"/>
            <a:ext cx="274320" cy="274320"/>
          </a:xfrm>
          <a:prstGeom prst="rightArrow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6144768"/>
            <a:ext cx="10972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59E0B"/>
                </a:solidFill>
                <a:latin typeface="Consolas"/>
              </a:rPr>
              <a:t>Échec d'une étape  →  </a:t>
            </a:r>
            <a:r>
              <a:rPr sz="1150" b="0" i="0">
                <a:solidFill>
                  <a:srgbClr val="F4F4F5"/>
                </a:solidFill>
                <a:latin typeface="Segoe UI"/>
              </a:rPr>
              <a:t>le pipeline s'arrête et alerte sur Slack. Jamais de calcul sur données douteuses.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Pipeline orchestré par Kestra · run complet vert en ~20 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34D399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SCHÉMA 3 / DONNÉES PERSONNELLES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Cycle de vie d'une donnée RH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La même donnée, trois niveaux d'exposition selon la couche traversée.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606040"/>
            <a:ext cx="3337560" cy="54864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59" y="2834640"/>
            <a:ext cx="1371600" cy="365760"/>
          </a:xfrm>
          <a:prstGeom prst="round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RAW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Reflet brut du fichier RH. Nom, salaire, adresse en clair. Accessible au pipeline seul.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· 42 000 € · Lattes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977639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2606040"/>
            <a:ext cx="3337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09159" y="2834640"/>
            <a:ext cx="1371600" cy="36576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STAGING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Typé et hashé. PII en clair présentes mais cloisonnées par Row Level Security.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59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88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Le Gall + hash a3f9c2…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63840" y="3657600"/>
            <a:ext cx="457200" cy="27432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21040" y="2606040"/>
            <a:ext cx="3337560" cy="246888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21040" y="2606040"/>
            <a:ext cx="33375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95360" y="2834640"/>
            <a:ext cx="1371600" cy="36576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</a:rPr>
              <a:t>MARTS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3429000"/>
            <a:ext cx="2788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Sortie analytique. Zéro PII : hash + tranche de salaire. Tout ce que voit PowerBI.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4526280"/>
            <a:ext cx="2788920" cy="41148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5088" y="4572000"/>
            <a:ext cx="26060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A855F7"/>
                </a:solidFill>
                <a:latin typeface="Consolas"/>
              </a:rPr>
              <a:t>a3f9c2… · BU Tech · 40-50 k€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5046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QUI VOIT QUOI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15584"/>
            <a:ext cx="10972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4D399"/>
                </a:solidFill>
                <a:latin typeface="Consolas"/>
              </a:rPr>
              <a:t>etl_writer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écrit / lit les PII (raw + staging)</a:t>
            </a:r>
            <a:r>
              <a:rPr sz="1200" b="1" i="0">
                <a:solidFill>
                  <a:srgbClr val="A855F7"/>
                </a:solidFill>
                <a:latin typeface="Consolas"/>
              </a:rPr>
              <a:t>       analyst_reader · powerbi_reader </a:t>
            </a:r>
            <a:r>
              <a:rPr sz="1200" b="0" i="0">
                <a:solidFill>
                  <a:srgbClr val="F4F4F5"/>
                </a:solidFill>
                <a:latin typeface="Segoe UI"/>
              </a:rPr>
              <a:t>lisent marts uniquement — jamais de PII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Pseudonymisation (hash salé) + Row Level Security + triggers d'audit = conformité RGPD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457200"/>
            <a:ext cx="137160" cy="13716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</a:rPr>
              <a:t>SPORT DATA </a:t>
            </a:r>
            <a:r>
              <a:rPr sz="1050" b="1" i="0">
                <a:solidFill>
                  <a:srgbClr val="A855F7"/>
                </a:solidFill>
                <a:latin typeface="Segoe UI"/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55F7"/>
                </a:solidFill>
                <a:latin typeface="Consolas"/>
              </a:rPr>
              <a:t>SCHÉMA 4 / MODÈLE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70432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4F4F5"/>
                </a:solidFill>
                <a:latin typeface="Segoe UI"/>
              </a:rPr>
              <a:t>Tables PostgreSQL et leurs relations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83080"/>
            <a:ext cx="548640" cy="45720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55F7"/>
                </a:solidFill>
                <a:latin typeface="Consolas"/>
              </a:rPr>
              <a:t>RAW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STAGING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34D399"/>
                </a:solidFill>
                <a:latin typeface="Consolas"/>
              </a:rPr>
              <a:t>MARTS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2011680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F59E0B"/>
                </a:solidFill>
                <a:latin typeface="Consolas"/>
              </a:rPr>
              <a:t>AUDIT /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31720"/>
            <a:ext cx="233172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3172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35000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raw.employees_xlsx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660903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id_salarie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8493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nom, prenom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08959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332987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adresse_domicile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557015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moyen_deplacement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97680"/>
            <a:ext cx="233172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297680"/>
            <a:ext cx="2331720" cy="310896"/>
          </a:xfrm>
          <a:prstGeom prst="rect">
            <a:avLst/>
          </a:prstGeom>
          <a:solidFill>
            <a:srgbClr val="840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315968"/>
            <a:ext cx="214883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raw.activities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26864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activity_id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850892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athlete_id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5074920"/>
            <a:ext cx="2148839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payload JSONB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2331720"/>
            <a:ext cx="2514600" cy="1504188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60520" y="233172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235000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staging.employees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0248" y="2660903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288493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nom_hash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0248" y="3108959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salaire_brut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0248" y="3332987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distance_domicile_m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557015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is_declaration_suspect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297680"/>
            <a:ext cx="251460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4297680"/>
            <a:ext cx="2514600" cy="31089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0248" y="4315968"/>
            <a:ext cx="2331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staging.activities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0248" y="4626864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id_activity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0248" y="4850892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source_activity_id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5074920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A855F7"/>
                </a:solidFill>
                <a:latin typeface="Consolas"/>
              </a:rPr>
              <a:t>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70248" y="5298948"/>
            <a:ext cx="23317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sport_type, distance_m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72400" y="23317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23317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82127" y="235000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marts.eligibility_prime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660903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28849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is_eligible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108959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prime_amount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3332987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72400" y="4160520"/>
            <a:ext cx="2468880" cy="1280160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160520"/>
            <a:ext cx="2468880" cy="310896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82127" y="4178807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marts.eligibility_wellbeing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82127" y="4489704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PK·FK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id_employee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4713732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activity_count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4937760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days_granted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5161788"/>
            <a:ext cx="228600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233172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424160" y="233172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533888" y="235000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audit.run_log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33888" y="2660903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run_id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33888" y="288493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step_name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3888" y="3108959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status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424160" y="3840480"/>
            <a:ext cx="1691640" cy="1056132"/>
          </a:xfrm>
          <a:prstGeom prst="rect">
            <a:avLst/>
          </a:prstGeom>
          <a:solidFill>
            <a:srgbClr val="16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424160" y="3840480"/>
            <a:ext cx="1691640" cy="3108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33888" y="3858768"/>
            <a:ext cx="15087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0F1117"/>
                </a:solidFill>
                <a:latin typeface="Consolas"/>
              </a:rPr>
              <a:t>cache.gmaps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33888" y="4169664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address_hash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533888" y="4393692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F59E0B"/>
                </a:solidFill>
                <a:latin typeface="Consolas"/>
              </a:rPr>
              <a:t>PK </a:t>
            </a:r>
            <a:r>
              <a:rPr sz="850" b="0" i="0">
                <a:solidFill>
                  <a:srgbClr val="F4F4F5"/>
                </a:solidFill>
                <a:latin typeface="Consolas"/>
              </a:rPr>
              <a:t>mode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33888" y="4617720"/>
            <a:ext cx="1508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50" b="1" i="0">
                <a:solidFill>
                  <a:srgbClr val="94A3B8"/>
                </a:solidFill>
                <a:latin typeface="Consolas"/>
              </a:rPr>
              <a:t>   </a:t>
            </a:r>
            <a:r>
              <a:rPr sz="850" b="0" i="0">
                <a:solidFill>
                  <a:srgbClr val="94A3B8"/>
                </a:solidFill>
                <a:latin typeface="Consolas"/>
              </a:rPr>
              <a:t>distance_m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2880360" y="3083813"/>
            <a:ext cx="1280160" cy="0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2880360" y="4825746"/>
            <a:ext cx="1280160" cy="112014"/>
          </a:xfrm>
          <a:prstGeom prst="line">
            <a:avLst/>
          </a:prstGeom>
          <a:ln w="19050">
            <a:solidFill>
              <a:srgbClr val="5B6B7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H="1">
            <a:off x="2880360" y="4754880"/>
            <a:ext cx="1280160" cy="0"/>
          </a:xfrm>
          <a:prstGeom prst="line">
            <a:avLst/>
          </a:prstGeom>
          <a:ln w="22225">
            <a:solidFill>
              <a:srgbClr val="A855F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4526280" y="3835908"/>
            <a:ext cx="0" cy="461772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75120" y="2788920"/>
            <a:ext cx="1097280" cy="294893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675120" y="3083813"/>
            <a:ext cx="1097280" cy="1533907"/>
          </a:xfrm>
          <a:prstGeom prst="line">
            <a:avLst/>
          </a:prstGeom>
          <a:ln w="22225">
            <a:solidFill>
              <a:srgbClr val="10B9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48640" y="6172200"/>
            <a:ext cx="11064240" cy="384048"/>
          </a:xfrm>
          <a:prstGeom prst="rect">
            <a:avLst/>
          </a:prstGeom>
          <a:solidFill>
            <a:srgbClr val="1E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7240" y="6208776"/>
            <a:ext cx="109728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F59E0B"/>
                </a:solidFill>
                <a:latin typeface="Consolas"/>
              </a:rPr>
              <a:t>PK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primaire    </a:t>
            </a:r>
            <a:r>
              <a:rPr sz="900" b="1" i="0">
                <a:solidFill>
                  <a:srgbClr val="A855F7"/>
                </a:solidFill>
                <a:latin typeface="Consolas"/>
              </a:rPr>
              <a:t>FK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clé étrangère    </a:t>
            </a:r>
            <a:r>
              <a:rPr sz="900" b="1" i="0">
                <a:solidFill>
                  <a:srgbClr val="10B981"/>
                </a:solidFill>
                <a:latin typeface="Consolas"/>
              </a:rPr>
              <a:t>———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référence    </a:t>
            </a:r>
            <a:r>
              <a:rPr sz="900" b="1" i="0">
                <a:solidFill>
                  <a:srgbClr val="5B6B7A"/>
                </a:solidFill>
                <a:latin typeface="Consolas"/>
              </a:rPr>
              <a:t>- - -</a:t>
            </a:r>
            <a:r>
              <a:rPr sz="950" b="0" i="0">
                <a:solidFill>
                  <a:srgbClr val="94A3B8"/>
                </a:solidFill>
                <a:latin typeface="Segoe UI"/>
              </a:rPr>
              <a:t> alimentation (raw → staging)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Schémas raw / staging / marts + audit &amp; cache — lignage tracé de la source à la restitution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424160" y="647395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5B6B7A"/>
                </a:solidFill>
                <a:latin typeface="Segoe UI"/>
              </a:rPr>
              <a:t>POC Avantages Sportifs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