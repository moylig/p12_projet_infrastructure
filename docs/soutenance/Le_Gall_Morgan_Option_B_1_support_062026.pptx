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4754880"/>
            <a:ext cx="2194560" cy="2194560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5029200"/>
            <a:ext cx="1645920" cy="1645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5669280" cy="384048"/>
          </a:xfrm>
          <a:prstGeom prst="round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34D399"/>
                </a:solidFill>
                <a:latin typeface="Calibri"/>
              </a:rPr>
              <a:t>OPENCLASSROOMS · DATA ENGINEER · OPTION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Trebuchet MS"/>
              </a:rPr>
              <a:t>POC Avantages Sportifs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4D399"/>
                </a:solidFill>
                <a:latin typeface="Calibri"/>
              </a:rPr>
              <a:t>Pipeline ETL bout-en-bout — Sport Data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7ECEA"/>
                </a:solidFill>
                <a:latin typeface="Calibri"/>
              </a:rPr>
              <a:t>Morgan Le Gall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9A6"/>
                </a:solidFill>
                <a:latin typeface="Calibri"/>
              </a:rPr>
              <a:t>Juin 2026  ·  Faisabilité · Qualité des données · Impact financier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La mission confiée par Juliette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Calibri"/>
              </a:rPr>
              <a:t>Encourager la pratique sportive des 161 salariés via deux avantages — et mesurer leur coût avant d'industrialiser.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4924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3108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788920"/>
            <a:ext cx="1554480" cy="38404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A222E"/>
                </a:solidFill>
                <a:latin typeface="Trebuchet MS"/>
              </a:rPr>
              <a:t>+5 % du salaire annuel brut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Calibri"/>
              </a:rPr>
              <a:t>Pour les salariés venant au bureau en mode actif : marche, course, vélo, trottinette. Vérifié par la distance domicile-travail.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468880"/>
            <a:ext cx="534924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468880"/>
            <a:ext cx="109728" cy="3108960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75120" y="2788920"/>
            <a:ext cx="1554480" cy="384048"/>
          </a:xfrm>
          <a:prstGeom prst="round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BIEN-ÊTRE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A222E"/>
                </a:solidFill>
                <a:latin typeface="Trebuchet MS"/>
              </a:rPr>
              <a:t>5 jours offerts /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Calibri"/>
              </a:rPr>
              <a:t>Pour les salariés réalisant au moins 15 activités physiques sur l'année, attestées par le flux de données sportives.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Ce que le POC doit prouver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34290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342900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0B981"/>
                </a:solidFill>
                <a:latin typeface="Trebuchet M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A222E"/>
                </a:solidFill>
                <a:latin typeface="Trebuchet MS"/>
              </a:rPr>
              <a:t>Faisabilité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Calibri"/>
              </a:rPr>
              <a:t>Un pipeline qui tourne de bout en bout, automatisé et reproductible.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2286000"/>
            <a:ext cx="34290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2286000"/>
            <a:ext cx="342900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260604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0B981"/>
                </a:solidFill>
                <a:latin typeface="Trebuchet M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A222E"/>
                </a:solidFill>
                <a:latin typeface="Trebuchet MS"/>
              </a:rPr>
              <a:t>Données à collecter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38912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Calibri"/>
              </a:rPr>
              <a:t>Identifier et structurer les données nécessaires — dont des données RH sensibles.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2286000"/>
            <a:ext cx="34290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286000"/>
            <a:ext cx="342900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260604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0B981"/>
                </a:solidFill>
                <a:latin typeface="Trebuchet M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A222E"/>
                </a:solidFill>
                <a:latin typeface="Trebuchet MS"/>
              </a:rPr>
              <a:t>Impact financier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438912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Calibri"/>
              </a:rPr>
              <a:t>Chiffrer le coût des avantages, et pouvoir le recalculer si un paramètre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Un flux orchestré, trois couches de données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C6FF0"/>
                </a:solidFill>
                <a:latin typeface="Calibri"/>
              </a:rPr>
              <a:t>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7432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2743200" cy="82296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304288"/>
            <a:ext cx="24140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22E"/>
                </a:solidFill>
                <a:latin typeface="Trebuchet MS"/>
              </a:rPr>
              <a:t>Fichiers RH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79776"/>
            <a:ext cx="2414016" cy="137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B7A"/>
                </a:solidFill>
                <a:latin typeface="Calibri"/>
              </a:rPr>
              <a:t>161 salariés · PII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54680"/>
            <a:ext cx="27432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154680"/>
            <a:ext cx="2743200" cy="82296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355848"/>
            <a:ext cx="24140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22E"/>
                </a:solidFill>
                <a:latin typeface="Trebuchet MS"/>
              </a:rPr>
              <a:t>Pratiques sportives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31336"/>
            <a:ext cx="2414016" cy="137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B7A"/>
                </a:solidFill>
                <a:latin typeface="Calibri"/>
              </a:rPr>
              <a:t>déclaratif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27432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06240"/>
            <a:ext cx="2743200" cy="82296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407407"/>
            <a:ext cx="24140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22E"/>
                </a:solidFill>
                <a:latin typeface="Trebuchet MS"/>
              </a:rPr>
              <a:t>Générateur Strava-like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882896"/>
            <a:ext cx="2414016" cy="137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B7A"/>
                </a:solidFill>
                <a:latin typeface="Calibri"/>
              </a:rPr>
              <a:t>3948 activités / 12 mois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429000" y="3246120"/>
            <a:ext cx="457200" cy="27432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0B981"/>
                </a:solidFill>
                <a:latin typeface="Calibri"/>
              </a:rPr>
              <a:t>POSTGRESQL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2103120"/>
            <a:ext cx="3657600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23360" y="2103120"/>
            <a:ext cx="365760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87952" y="2304288"/>
            <a:ext cx="3328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22E"/>
                </a:solidFill>
                <a:latin typeface="Trebuchet MS"/>
              </a:rPr>
              <a:t>Base sécurisée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7952" y="2779776"/>
            <a:ext cx="3328416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B7A"/>
                </a:solidFill>
                <a:latin typeface="Calibri"/>
              </a:rPr>
              <a:t>raw  →  staging  →  marts
+ audit (monitoring)
+ cache (Google Maps)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818120" y="3246120"/>
            <a:ext cx="457200" cy="27432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0B981"/>
                </a:solidFill>
                <a:latin typeface="Calibri"/>
              </a:rPr>
              <a:t>VALIDATION &amp; SORTIES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2103120"/>
            <a:ext cx="3154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58200" y="2103120"/>
            <a:ext cx="31546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22792" y="2304288"/>
            <a:ext cx="2825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22E"/>
                </a:solidFill>
                <a:latin typeface="Trebuchet MS"/>
              </a:rPr>
              <a:t>Validation géo + qualité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2792" y="2779776"/>
            <a:ext cx="2825496" cy="137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B7A"/>
                </a:solidFill>
                <a:latin typeface="Calibri"/>
              </a:rPr>
              <a:t>Google Maps · Great Expectations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58200" y="3154680"/>
            <a:ext cx="3154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58200" y="3154680"/>
            <a:ext cx="315468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2792" y="3355848"/>
            <a:ext cx="2825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22E"/>
                </a:solidFill>
                <a:latin typeface="Trebuchet MS"/>
              </a:rPr>
              <a:t>Calcul des avantages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2792" y="3831336"/>
            <a:ext cx="2825496" cy="137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B7A"/>
                </a:solidFill>
                <a:latin typeface="Calibri"/>
              </a:rPr>
              <a:t>prime · jours bien-être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4206240"/>
            <a:ext cx="1481328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58200" y="4206240"/>
            <a:ext cx="1481328" cy="82296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2792" y="4407407"/>
            <a:ext cx="11521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22E"/>
                </a:solidFill>
                <a:latin typeface="Trebuchet MS"/>
              </a:rPr>
              <a:t>Slack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22792" y="4882896"/>
            <a:ext cx="1152144" cy="137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B7A"/>
                </a:solidFill>
                <a:latin typeface="Calibri"/>
              </a:rPr>
              <a:t>messages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49840" y="4206240"/>
            <a:ext cx="1463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49840" y="4206240"/>
            <a:ext cx="1463040" cy="82296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14432" y="4407407"/>
            <a:ext cx="1133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22E"/>
                </a:solidFill>
                <a:latin typeface="Trebuchet MS"/>
              </a:rPr>
              <a:t>PowerBI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14432" y="4882896"/>
            <a:ext cx="1133856" cy="137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B7A"/>
                </a:solidFill>
                <a:latin typeface="Calibri"/>
              </a:rPr>
              <a:t>KPIs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486400"/>
            <a:ext cx="10972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4D399"/>
                </a:solidFill>
                <a:latin typeface="Trebuchet MS"/>
              </a:rPr>
              <a:t>KESTRA  </a:t>
            </a:r>
            <a:r>
              <a:rPr sz="1300" b="0" i="0">
                <a:solidFill>
                  <a:srgbClr val="E7ECEA"/>
                </a:solidFill>
                <a:latin typeface="Calibri"/>
              </a:rPr>
              <a:t>orchestre le tout — trigger mensuel, replay, monitoring, alertes mail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CHOIX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La bonne brique pour chaque besoin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37943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34D399"/>
                </a:solidFill>
                <a:latin typeface="Calibri"/>
              </a:rPr>
              <a:t>BRIQUE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37943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34D399"/>
                </a:solidFill>
                <a:latin typeface="Calibri"/>
              </a:rPr>
              <a:t>OUTIL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37943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34D399"/>
                </a:solidFill>
                <a:latin typeface="Calibri"/>
              </a:rPr>
              <a:t>POURQUOI CE CHOIX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110642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13432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13432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0B981"/>
                </a:solidFill>
                <a:latin typeface="Calibri"/>
              </a:rPr>
              <a:t>Kestra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313432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Replay de l'historique (demandé), monitoring, trigger cron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25496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Base de données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825496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0B981"/>
                </a:solidFill>
                <a:latin typeface="Calibri"/>
              </a:rPr>
              <a:t>PostgreSQL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25496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Rôles, RLS, audit — adapté aux données RH sensibles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64408"/>
            <a:ext cx="110642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37560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Traitement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3756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0B981"/>
                </a:solidFill>
                <a:latin typeface="Calibri"/>
              </a:rPr>
              <a:t>Python + pandas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3375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Extraction, génération, calculs métier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9624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Qualité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849624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0B981"/>
                </a:solidFill>
                <a:latin typeface="Calibri"/>
              </a:rPr>
              <a:t>Great Expectations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849624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Tests déclaratifs, bloquants si échec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288536"/>
            <a:ext cx="110642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361688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Géocodage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361688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0B981"/>
                </a:solidFill>
                <a:latin typeface="Calibri"/>
              </a:rPr>
              <a:t>Google Maps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4361688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Distance réelle domicile-travail (+ cache)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73752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Notifications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873752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0B981"/>
                </a:solidFill>
                <a:latin typeface="Calibri"/>
              </a:rPr>
              <a:t>Slack Webhook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873752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Messages automatiques, démo crédible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12664"/>
            <a:ext cx="110642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385816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Restitution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5385816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0B981"/>
                </a:solidFill>
                <a:latin typeface="Calibri"/>
              </a:rPr>
              <a:t>PowerBI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5385816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KPIs, paramètre de taux dynamique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897880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Conteneurs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89788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0B981"/>
                </a:solidFill>
                <a:latin typeface="Calibri"/>
              </a:rPr>
              <a:t>Docker Compose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58978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Stack reproductible en une commande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Sept étapes, de la source à la restitution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194560"/>
            <a:ext cx="685800" cy="6858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1284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22E"/>
                </a:solidFill>
                <a:latin typeface="Trebuchet MS"/>
              </a:rPr>
              <a:t>Extract RH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fichiers → base</a:t>
            </a:r>
          </a:p>
        </p:txBody>
      </p:sp>
      <p:sp>
        <p:nvSpPr>
          <p:cNvPr id="9" name="Oval 8"/>
          <p:cNvSpPr/>
          <p:nvPr/>
        </p:nvSpPr>
        <p:spPr>
          <a:xfrm>
            <a:off x="3337560" y="2194560"/>
            <a:ext cx="685800" cy="685800"/>
          </a:xfrm>
          <a:prstGeom prst="ellipse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21284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22E"/>
                </a:solidFill>
                <a:latin typeface="Trebuchet MS"/>
              </a:rPr>
              <a:t>Extract 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6060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pratiques déclarées</a:t>
            </a:r>
          </a:p>
        </p:txBody>
      </p:sp>
      <p:sp>
        <p:nvSpPr>
          <p:cNvPr id="12" name="Oval 11"/>
          <p:cNvSpPr/>
          <p:nvPr/>
        </p:nvSpPr>
        <p:spPr>
          <a:xfrm>
            <a:off x="6126479" y="2194560"/>
            <a:ext cx="685800" cy="6858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21284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22E"/>
                </a:solidFill>
                <a:latin typeface="Trebuchet MS"/>
              </a:rPr>
              <a:t>Générer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6060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activités 12 mois</a:t>
            </a:r>
          </a:p>
        </p:txBody>
      </p:sp>
      <p:sp>
        <p:nvSpPr>
          <p:cNvPr id="15" name="Oval 14"/>
          <p:cNvSpPr/>
          <p:nvPr/>
        </p:nvSpPr>
        <p:spPr>
          <a:xfrm>
            <a:off x="8915399" y="2194560"/>
            <a:ext cx="685800" cy="685800"/>
          </a:xfrm>
          <a:prstGeom prst="ellipse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38359" y="221284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22E"/>
                </a:solidFill>
                <a:latin typeface="Trebuchet MS"/>
              </a:rPr>
              <a:t>Valider géo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59" y="26060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Google Maps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160520"/>
            <a:ext cx="685800" cy="6858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78807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22E"/>
                </a:solidFill>
                <a:latin typeface="Trebuchet MS"/>
              </a:rPr>
              <a:t>Qualité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720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Great Expectations</a:t>
            </a:r>
          </a:p>
        </p:txBody>
      </p:sp>
      <p:sp>
        <p:nvSpPr>
          <p:cNvPr id="21" name="Oval 20"/>
          <p:cNvSpPr/>
          <p:nvPr/>
        </p:nvSpPr>
        <p:spPr>
          <a:xfrm>
            <a:off x="3337560" y="4160520"/>
            <a:ext cx="685800" cy="685800"/>
          </a:xfrm>
          <a:prstGeom prst="ellipse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Trebuchet MS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4178807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22E"/>
                </a:solidFill>
                <a:latin typeface="Trebuchet MS"/>
              </a:rPr>
              <a:t>Calculer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5720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prime + bien-être</a:t>
            </a:r>
          </a:p>
        </p:txBody>
      </p:sp>
      <p:sp>
        <p:nvSpPr>
          <p:cNvPr id="24" name="Oval 23"/>
          <p:cNvSpPr/>
          <p:nvPr/>
        </p:nvSpPr>
        <p:spPr>
          <a:xfrm>
            <a:off x="6126479" y="4160520"/>
            <a:ext cx="685800" cy="6858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Trebuchet MS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178807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22E"/>
                </a:solidFill>
                <a:latin typeface="Trebuchet MS"/>
              </a:rPr>
              <a:t>Notifier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5720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A"/>
                </a:solidFill>
                <a:latin typeface="Calibri"/>
              </a:rPr>
              <a:t>Slack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96128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34D399"/>
                </a:solidFill>
                <a:latin typeface="Calibri"/>
              </a:rPr>
              <a:t>Échec d'une étape  →  </a:t>
            </a:r>
            <a:r>
              <a:rPr sz="1250" b="0" i="0">
                <a:solidFill>
                  <a:srgbClr val="E7ECEA"/>
                </a:solidFill>
                <a:latin typeface="Calibri"/>
              </a:rPr>
              <a:t>le pipeline s'arrête et envoie une alerte. On ne calcule jamais sur des données douteuses.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QUALITÉ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Trois lignes de défense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64240" cy="1207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09728" cy="1207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02996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A222E"/>
                </a:solidFill>
                <a:latin typeface="Trebuchet MS"/>
              </a:rPr>
              <a:t>Contraintes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487168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Calibri"/>
              </a:rPr>
              <a:t>À l'entrée en base : distance ≥ 0, dates valides, moyen de transport dans une liste fermée. Rejet immédiat.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1064240" cy="1207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109728" cy="12070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529584"/>
            <a:ext cx="548640" cy="54864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40156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A222E"/>
                </a:solidFill>
                <a:latin typeface="Trebuchet MS"/>
              </a:rPr>
              <a:t>Great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58768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Calibri"/>
              </a:rPr>
              <a:t>Règles métier déclaratives, bloquantes. A détecté un vrai bug : des activités datées dans le futur.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72000"/>
            <a:ext cx="11064240" cy="1207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572000"/>
            <a:ext cx="109728" cy="1207008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4901184"/>
            <a:ext cx="548640" cy="548640"/>
          </a:xfrm>
          <a:prstGeom prst="ellipse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77316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A222E"/>
                </a:solidFill>
                <a:latin typeface="Trebuchet MS"/>
              </a:rPr>
              <a:t>Validation géographique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230368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Calibri"/>
              </a:rPr>
              <a:t>Déclaration « marche » mais domicile à 50 km ? Google Maps calcule la distance réelle → anomalie remontée.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SÉCURITÉ &amp; RGPD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Des données RH, donc cloisonnées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694944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MESURES EN 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63093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1A222E"/>
                </a:solidFill>
                <a:latin typeface="Calibri"/>
              </a:rPr>
              <a:t>3 rôles PostgreSQL : l'analyste ne voit jamais les noms ni les salaires en clair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1A222E"/>
                </a:solidFill>
                <a:latin typeface="Calibri"/>
              </a:rPr>
              <a:t>Pseudonymisation : hash salé des identités, salaires en tranches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1A222E"/>
                </a:solidFill>
                <a:latin typeface="Calibri"/>
              </a:rPr>
              <a:t>Row Level Security + triggers d'audit (traçabilité RGPD)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1A222E"/>
                </a:solidFill>
                <a:latin typeface="Calibri"/>
              </a:rPr>
              <a:t>Aucun secret dans le code — variables d'environnement, .gitignore strict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6679" y="1828800"/>
            <a:ext cx="3886200" cy="3749039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1488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Calibri"/>
              </a:rPr>
              <a:t>AUDIT DE SÉCURITÉ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69748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0B981"/>
                </a:solidFill>
                <a:latin typeface="Trebuchet MS"/>
              </a:rPr>
              <a:t>8 /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79476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7ECEA"/>
                </a:solidFill>
                <a:latin typeface="Calibri"/>
              </a:rPr>
              <a:t>vulnérabilités corrigées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48056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8A99A6"/>
                </a:solidFill>
                <a:latin typeface="Calibri"/>
              </a:rPr>
              <a:t>Bandit : 0 faille critique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8A99A6"/>
                </a:solidFill>
                <a:latin typeface="Calibri"/>
              </a:rPr>
              <a:t>Socket Docker retiré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8A99A6"/>
                </a:solidFill>
                <a:latin typeface="Calibri"/>
              </a:rPr>
              <a:t>Dépendances à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DONNÉES PERSONNELLES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Le cycle de vie d'une donnée RH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Calibri"/>
              </a:rPr>
              <a:t>La même donnée, trois niveaux d'exposition selon la couche — et selon le rôle qui la lit.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338328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3383280" cy="91440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2606040"/>
            <a:ext cx="1371600" cy="384048"/>
          </a:xfrm>
          <a:prstGeom prst="round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00400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Reflet brut du fichier RH. Nom, salaire et adresse en clair. Lisible par le seul pipeline d'ingestion.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4224528"/>
            <a:ext cx="2834640" cy="4572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2E"/>
                </a:solidFill>
                <a:latin typeface="Consolas"/>
              </a:rPr>
              <a:t>Le Gall · 42 000 € · Lattes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931920" y="3383280"/>
            <a:ext cx="457200" cy="27432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331720"/>
            <a:ext cx="338328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331720"/>
            <a:ext cx="338328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2606040"/>
            <a:ext cx="1371600" cy="38404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200400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Typé et hashé. Les PII en clair restent, mais cloisonnées par Row Level Security.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4224528"/>
            <a:ext cx="2834640" cy="4572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2976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2E"/>
                </a:solidFill>
                <a:latin typeface="Consolas"/>
              </a:rPr>
              <a:t>Le Gall + hash a3f9c2…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772400" y="3383280"/>
            <a:ext cx="457200" cy="274320"/>
          </a:xfrm>
          <a:prstGeom prst="rightArrow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331720"/>
            <a:ext cx="338328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331720"/>
            <a:ext cx="3383280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03920" y="2606040"/>
            <a:ext cx="1371600" cy="384048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MARTS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Sortie analytique. Zéro PII : hash pseudonyme et tranche de salaire. Tout ce que voit PowerBI.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0" y="4224528"/>
            <a:ext cx="2834640" cy="4572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2976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2E"/>
                </a:solidFill>
                <a:latin typeface="Consolas"/>
              </a:rPr>
              <a:t>a3f9c2… · BU Tech · 40-50 k€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93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34D399"/>
                </a:solidFill>
                <a:latin typeface="Calibri"/>
              </a:rPr>
              <a:t>QUI VOIT QUOI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504688"/>
            <a:ext cx="10972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34D399"/>
                </a:solidFill>
                <a:latin typeface="Consolas"/>
              </a:rPr>
              <a:t>etl_writer </a:t>
            </a:r>
            <a:r>
              <a:rPr sz="1250" b="0" i="0">
                <a:solidFill>
                  <a:srgbClr val="E7ECEA"/>
                </a:solidFill>
                <a:latin typeface="Calibri"/>
              </a:rPr>
              <a:t>écrit et lit les PII   ·   </a:t>
            </a:r>
            <a:r>
              <a:rPr sz="1250" b="1" i="0">
                <a:solidFill>
                  <a:srgbClr val="34D399"/>
                </a:solidFill>
                <a:latin typeface="Consolas"/>
              </a:rPr>
              <a:t>analyst_reader / powerbi_reader </a:t>
            </a:r>
            <a:r>
              <a:rPr sz="1250" b="0" i="0">
                <a:solidFill>
                  <a:srgbClr val="E7ECEA"/>
                </a:solidFill>
                <a:latin typeface="Calibri"/>
              </a:rPr>
              <a:t>lisent marts uniquement — jamais de PII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Chaque exécution est tracée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212080" cy="3749039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Calibri"/>
              </a:rPr>
              <a:t>DERNIER RUN KESTRA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0B981"/>
                </a:solidFill>
                <a:latin typeface="Trebuchet MS"/>
              </a:rPr>
              <a:t>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7ECEA"/>
                </a:solidFill>
                <a:latin typeface="Calibri"/>
              </a:rPr>
              <a:t>7 / 7 tâches  ·  ~20 secondes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A99A6"/>
                </a:solidFill>
                <a:latin typeface="Calibri"/>
              </a:rPr>
              <a:t>Volumétrie et durée tracées par étape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A99A6"/>
                </a:solidFill>
                <a:latin typeface="Calibri"/>
              </a:rPr>
              <a:t>Alerte mail automatique si échec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A99A6"/>
                </a:solidFill>
                <a:latin typeface="Calibri"/>
              </a:rPr>
              <a:t>Interface temps réel + replay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828800"/>
            <a:ext cx="562356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A222E"/>
                </a:solidFill>
                <a:latin typeface="Calibri"/>
              </a:rPr>
              <a:t>audit.run_log (extrait)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514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B7A"/>
                </a:solidFill>
                <a:latin typeface="Calibri"/>
              </a:rPr>
              <a:t>ÉTAPE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51460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B7A"/>
                </a:solidFill>
                <a:latin typeface="Calibri"/>
              </a:rPr>
              <a:t>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B7A"/>
                </a:solidFill>
                <a:latin typeface="Calibri"/>
              </a:rPr>
              <a:t>STATUT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843784"/>
            <a:ext cx="5349240" cy="420624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2880360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22E"/>
                </a:solidFill>
                <a:latin typeface="Consolas"/>
              </a:rPr>
              <a:t>extract_rh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880360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161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2880360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319272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22E"/>
                </a:solidFill>
                <a:latin typeface="Consolas"/>
              </a:rPr>
              <a:t>generate_activities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319272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3948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331927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3721607"/>
            <a:ext cx="5349240" cy="420624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758183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22E"/>
                </a:solidFill>
                <a:latin typeface="Consolas"/>
              </a:rPr>
              <a:t>validate_geo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758183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161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3758183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19709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22E"/>
                </a:solidFill>
                <a:latin typeface="Consolas"/>
              </a:rPr>
              <a:t>validate_quality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197096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3948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4197096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OK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4599432"/>
            <a:ext cx="5349240" cy="420624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636008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22E"/>
                </a:solidFill>
                <a:latin typeface="Consolas"/>
              </a:rPr>
              <a:t>compute_advantages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636008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68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463600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074920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A222E"/>
                </a:solidFill>
                <a:latin typeface="Consolas"/>
              </a:rPr>
              <a:t>post_slack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5074920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0" y="5074920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4D399"/>
                </a:solidFill>
                <a:latin typeface="Calibri"/>
              </a:rPr>
              <a:t>RÉSULTATS — IMPACT FINANCIER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68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Trebuchet MS"/>
              </a:rPr>
              <a:t>Ce que coûtent les avantages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3429000" cy="1691640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342900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0B981"/>
                </a:solidFill>
                <a:latin typeface="Trebuchet MS"/>
              </a:rPr>
              <a:t>172 482 €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7ECEA"/>
                </a:solidFill>
                <a:latin typeface="Calibri"/>
              </a:rPr>
              <a:t>coût annuel de la prime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429000" cy="1691640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920240"/>
            <a:ext cx="3429000" cy="8229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12848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4D399"/>
                </a:solidFill>
                <a:latin typeface="Trebuchet MS"/>
              </a:rPr>
              <a:t>68 / 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6324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7ECEA"/>
                </a:solidFill>
                <a:latin typeface="Calibri"/>
              </a:rPr>
              <a:t>salariés éligibles à la prime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920240"/>
            <a:ext cx="3383280" cy="1691640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920240"/>
            <a:ext cx="3383280" cy="8229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21284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4D399"/>
                </a:solidFill>
                <a:latin typeface="Trebuchet M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7ECEA"/>
                </a:solidFill>
                <a:latin typeface="Calibri"/>
              </a:rPr>
              <a:t>déclaration suspecte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794760"/>
            <a:ext cx="3429000" cy="1691640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3794760"/>
            <a:ext cx="3429000" cy="82296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87368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7C6FF0"/>
                </a:solidFill>
                <a:latin typeface="Trebuchet MS"/>
              </a:rPr>
              <a:t>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93776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7ECEA"/>
                </a:solidFill>
                <a:latin typeface="Calibri"/>
              </a:rPr>
              <a:t>éligibles aux jours bien-être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3794760"/>
            <a:ext cx="3429000" cy="1691640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3794760"/>
            <a:ext cx="3429000" cy="82296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4087368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7C6FF0"/>
                </a:solidFill>
                <a:latin typeface="Trebuchet MS"/>
              </a:rPr>
              <a:t>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93776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7ECEA"/>
                </a:solidFill>
                <a:latin typeface="Calibri"/>
              </a:rPr>
              <a:t>jours bien-être accordés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794760"/>
            <a:ext cx="3383280" cy="1691640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3794760"/>
            <a:ext cx="3383280" cy="82296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08736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7C6FF0"/>
                </a:solidFill>
                <a:latin typeface="Trebuchet MS"/>
              </a:rPr>
              <a:t>3 948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9377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7ECEA"/>
                </a:solidFill>
                <a:latin typeface="Calibri"/>
              </a:rPr>
              <a:t>activités sportives analysées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15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8A99A6"/>
                </a:solidFill>
                <a:latin typeface="Calibri"/>
              </a:rPr>
              <a:t>Tous ces chiffres se recalculent en un clic si le taux de prime change.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9A6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9A6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Deux scénarios en direct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492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534924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240280"/>
            <a:ext cx="1371600" cy="38404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SCÉNARIO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A222E"/>
                </a:solidFill>
                <a:latin typeface="Trebuchet MS"/>
              </a:rPr>
              <a:t>Changer le taux de prime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5B6B7A"/>
                </a:solidFill>
                <a:latin typeface="Calibri"/>
              </a:rPr>
              <a:t>1. Passer le taux de 5 % à 7 % dans Kestra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5B6B7A"/>
                </a:solidFill>
                <a:latin typeface="Calibri"/>
              </a:rPr>
              <a:t>2. Relancer le pipeline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5B6B7A"/>
                </a:solidFill>
                <a:latin typeface="Calibri"/>
              </a:rPr>
              <a:t>3. Le coût total évolue dans PowerBI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920240"/>
            <a:ext cx="53492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920240"/>
            <a:ext cx="5349240" cy="109728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2240280"/>
            <a:ext cx="1371600" cy="384048"/>
          </a:xfrm>
          <a:prstGeom prst="round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SCÉNARIO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A222E"/>
                </a:solidFill>
                <a:latin typeface="Trebuchet MS"/>
              </a:rPr>
              <a:t>Insérer une activité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61188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5B6B7A"/>
                </a:solidFill>
                <a:latin typeface="Calibri"/>
              </a:rPr>
              <a:t>1. Ajouter une nouvelle course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5B6B7A"/>
                </a:solidFill>
                <a:latin typeface="Calibri"/>
              </a:rPr>
              <a:t>2. Le message arrive dans Slack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5B6B7A"/>
                </a:solidFill>
                <a:latin typeface="Calibri"/>
              </a:rPr>
              <a:t>3. L'activité apparaît dans le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02336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ROBUSTESSE &amp; SCALABILITÉ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222E"/>
                </a:solidFill>
                <a:latin typeface="Trebuchet MS"/>
              </a:rPr>
              <a:t>Pensé pour passer en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0B981"/>
                </a:solidFill>
                <a:latin typeface="Calibri"/>
              </a:rPr>
              <a:t>DÉJÀ EN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6FF0"/>
                </a:solidFill>
                <a:latin typeface="Calibri"/>
              </a:rPr>
              <a:t>PROCHAINES ÉTAPES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53949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91440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505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22E"/>
                </a:solidFill>
                <a:latin typeface="Trebuchet MS"/>
              </a:rPr>
              <a:t>Reproductible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52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Stack conteneurisée, démarrage en une commande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83280"/>
            <a:ext cx="53949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91440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478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22E"/>
                </a:solidFill>
                <a:latin typeface="Trebuchet MS"/>
              </a:rPr>
              <a:t>Idempotent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502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Rejouable sans créer de doublons (Slack, calculs)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60"/>
            <a:ext cx="53949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91440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45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22E"/>
                </a:solidFill>
                <a:latin typeface="Trebuchet MS"/>
              </a:rPr>
              <a:t>Replay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474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Recalcul de l'historique si une source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286000"/>
            <a:ext cx="53949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286000"/>
            <a:ext cx="91440" cy="960120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4505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22E"/>
                </a:solidFill>
                <a:latin typeface="Trebuchet MS"/>
              </a:rPr>
              <a:t>API Strava réelle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852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Remplacer le générateur par les vraies données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383280"/>
            <a:ext cx="53949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383280"/>
            <a:ext cx="91440" cy="960120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5478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22E"/>
                </a:solidFill>
                <a:latin typeface="Trebuchet MS"/>
              </a:rPr>
              <a:t>CI/CD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9502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Tests et audit sécurité automatisés à chaque commit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480560"/>
            <a:ext cx="539496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4480560"/>
            <a:ext cx="91440" cy="960120"/>
          </a:xfrm>
          <a:prstGeom prst="rect">
            <a:avLst/>
          </a:prstGeom>
          <a:solidFill>
            <a:srgbClr val="7C6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645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22E"/>
                </a:solidFill>
                <a:latin typeface="Trebuchet MS"/>
              </a:rPr>
              <a:t>Secret manager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0474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A"/>
                </a:solidFill>
                <a:latin typeface="Calibri"/>
              </a:rPr>
              <a:t>Rotation des secrets en production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097280"/>
            <a:ext cx="2011680" cy="384048"/>
          </a:xfrm>
          <a:prstGeom prst="round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34D399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7830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Trebuchet MS"/>
              </a:rPr>
              <a:t>Le POC valide les trois objectifs.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10B981"/>
                </a:solidFill>
                <a:latin typeface="Calibri"/>
              </a:rPr>
              <a:t>✓  </a:t>
            </a:r>
            <a:r>
              <a:rPr sz="1600" b="0" i="0">
                <a:solidFill>
                  <a:srgbClr val="E7ECEA"/>
                </a:solidFill>
                <a:latin typeface="Calibri"/>
              </a:rPr>
              <a:t>Faisable : pipeline complet, vert, en ~20 secondes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10B981"/>
                </a:solidFill>
                <a:latin typeface="Calibri"/>
              </a:rPr>
              <a:t>✓  </a:t>
            </a:r>
            <a:r>
              <a:rPr sz="1600" b="0" i="0">
                <a:solidFill>
                  <a:srgbClr val="E7ECEA"/>
                </a:solidFill>
                <a:latin typeface="Calibri"/>
              </a:rPr>
              <a:t>Données maîtrisées : sensibles, cloisonnées, tracées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10B981"/>
                </a:solidFill>
                <a:latin typeface="Calibri"/>
              </a:rPr>
              <a:t>✓  </a:t>
            </a:r>
            <a:r>
              <a:rPr sz="1600" b="0" i="0">
                <a:solidFill>
                  <a:srgbClr val="E7ECEA"/>
                </a:solidFill>
                <a:latin typeface="Calibri"/>
              </a:rPr>
              <a:t>Coût chiffré et pilotable : 172 482 € / an, recalculable à la demande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486400"/>
            <a:ext cx="1083564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605272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E141B"/>
                </a:solidFill>
                <a:latin typeface="Calibri"/>
              </a:rPr>
              <a:t>Recommandation : industrialiser, en commençant par l'intégration Strava.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9A6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9A6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44400" cy="704088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84080" y="0"/>
            <a:ext cx="2377440" cy="6858000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0" y="2286000"/>
            <a:ext cx="1828800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000" b="1" i="0">
                <a:solidFill>
                  <a:srgbClr val="FFFFFF"/>
                </a:solidFill>
                <a:latin typeface="Trebuchet MS"/>
              </a:rPr>
              <a:t>Merci.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34D399"/>
                </a:solidFill>
                <a:latin typeface="Calibri"/>
              </a:rPr>
              <a:t>Place à la discussion et à la démonstration.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A99A6"/>
                </a:solidFill>
                <a:latin typeface="Calibri"/>
              </a:rPr>
              <a:t>Morgan Le Gall — POC Avantages Sportifs — Sport Data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9A6"/>
                </a:solidFill>
                <a:latin typeface="Calibri"/>
              </a:rPr>
              <a:t>Sport Data Solution — POC Avantages Sportifs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8A99A6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