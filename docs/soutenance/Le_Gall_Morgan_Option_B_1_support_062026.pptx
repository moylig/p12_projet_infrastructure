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66960" y="4572000"/>
            <a:ext cx="1828800" cy="182880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0" y="4846320"/>
            <a:ext cx="1280160" cy="128016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0" y="5120640"/>
            <a:ext cx="731520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12680" y="3840480"/>
            <a:ext cx="237744" cy="4572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96728" y="3474720"/>
            <a:ext cx="237744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0776" y="3657600"/>
            <a:ext cx="237744" cy="64008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164824" y="3200400"/>
            <a:ext cx="237744" cy="10972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48872" y="3383280"/>
            <a:ext cx="237744" cy="9144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188720"/>
            <a:ext cx="5852160" cy="365760"/>
          </a:xfrm>
          <a:prstGeom prst="round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34D399"/>
                </a:solidFill>
                <a:latin typeface="Consolas"/>
              </a:rPr>
              <a:t>OPENCLASSROOMS · DATA ENGINEER · OPTION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POC Avantages Sportifs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661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94A3B8"/>
                </a:solidFill>
                <a:latin typeface="Segoe UI"/>
              </a:rPr>
              <a:t>Pipeline ETL bout-en-bout — </a:t>
            </a:r>
            <a:r>
              <a:rPr sz="2200" b="1" i="0">
                <a:solidFill>
                  <a:srgbClr val="34D399"/>
                </a:solidFill>
                <a:latin typeface="Segoe UI"/>
              </a:rPr>
              <a:t>Sport Data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Morgan Le Gall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B7A"/>
                </a:solidFill>
                <a:latin typeface="Consolas"/>
              </a:rPr>
              <a:t>Juin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93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4D399"/>
                </a:solidFill>
                <a:latin typeface="Consolas"/>
              </a:rPr>
              <a:t>Kestra   </a:t>
            </a:r>
            <a:r>
              <a:rPr sz="1100" b="1" i="0">
                <a:solidFill>
                  <a:srgbClr val="34D399"/>
                </a:solidFill>
                <a:latin typeface="Consolas"/>
              </a:rPr>
              <a:t>PostgreSQL   </a:t>
            </a:r>
            <a:r>
              <a:rPr sz="1100" b="1" i="0">
                <a:solidFill>
                  <a:srgbClr val="34D399"/>
                </a:solidFill>
                <a:latin typeface="Consolas"/>
              </a:rPr>
              <a:t>Python   </a:t>
            </a:r>
            <a:r>
              <a:rPr sz="1100" b="1" i="0">
                <a:solidFill>
                  <a:srgbClr val="34D399"/>
                </a:solidFill>
                <a:latin typeface="Consolas"/>
              </a:rPr>
              <a:t>Great Expectations   </a:t>
            </a:r>
            <a:r>
              <a:rPr sz="1100" b="1" i="0">
                <a:solidFill>
                  <a:srgbClr val="34D399"/>
                </a:solidFill>
                <a:latin typeface="Consolas"/>
              </a:rPr>
              <a:t>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058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Sommaire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5394960" cy="10515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539496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46888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34D399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468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Contexte &amp;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88950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deux avantages, trois objectifs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66160"/>
            <a:ext cx="5394960" cy="10515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566160"/>
            <a:ext cx="539496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749039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A855F7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749039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169663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trois couches, un orchestrateur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5394960" cy="10515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539496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02920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34D399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02920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Pipeline &amp; qualité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44982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huit étapes, trois lignes de défense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286000"/>
            <a:ext cx="5394960" cy="10515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286000"/>
            <a:ext cx="539496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246888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A855F7"/>
                </a:solidFill>
                <a:latin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468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Sécurité &amp; données personnelles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88950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RGPD, pseudonymisation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566160"/>
            <a:ext cx="5394960" cy="10515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566160"/>
            <a:ext cx="539496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59" y="3749039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34D399"/>
                </a:solidFill>
                <a:latin typeface="Consola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3749039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Monitoring &amp; résultats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4169663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traçabilité, impact financier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846320"/>
            <a:ext cx="5394960" cy="10515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4846320"/>
            <a:ext cx="539496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59" y="502920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A855F7"/>
                </a:solidFill>
                <a:latin typeface="Consola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502920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Démo &amp; industrialisation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544982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live + passage en production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02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7315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 i="0">
                <a:solidFill>
                  <a:srgbClr val="10B981"/>
                </a:solidFill>
                <a:latin typeface="Consolas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331720"/>
            <a:ext cx="54864" cy="219456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651760"/>
            <a:ext cx="7132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34D399"/>
                </a:solidFill>
                <a:latin typeface="Consolas"/>
              </a:rPr>
              <a:t>/</a:t>
            </a:r>
            <a:r>
              <a:rPr sz="3400" b="1" i="0">
                <a:solidFill>
                  <a:srgbClr val="FFFFFF"/>
                </a:solidFill>
                <a:latin typeface="Segoe UI"/>
              </a:rPr>
              <a:t>  Contexte &amp;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65760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Segoe UI"/>
              </a:rPr>
              <a:t>Deux avantages sportifs à chiffrer avant d'industrialiser.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01 / 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La mission confiée par Juliette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4A3B8"/>
                </a:solidFill>
                <a:latin typeface="Segoe UI"/>
              </a:rPr>
              <a:t>Encourager la pratique sportive des 161 salariés via deux avantages — et en mesurer le coût.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80360"/>
            <a:ext cx="5349240" cy="274320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880360"/>
            <a:ext cx="534924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154680"/>
            <a:ext cx="173736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PRIME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4F4F5"/>
                </a:solidFill>
                <a:latin typeface="Segoe UI"/>
              </a:rPr>
              <a:t>+5 % du salaire brut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4A3B8"/>
                </a:solidFill>
                <a:latin typeface="Segoe UI"/>
              </a:rPr>
              <a:t>Pour les salariés venant au bureau en mode actif (marche, course, vélo, trottinette). Vérifié par la distance domicile-travail.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880360"/>
            <a:ext cx="5349240" cy="274320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880360"/>
            <a:ext cx="534924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29400" y="3154680"/>
            <a:ext cx="1737360" cy="365760"/>
          </a:xfrm>
          <a:prstGeom prst="round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BIEN-ÊTRE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9476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4F4F5"/>
                </a:solidFill>
                <a:latin typeface="Segoe UI"/>
              </a:rPr>
              <a:t>5 jours offerts / 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526280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4A3B8"/>
                </a:solidFill>
                <a:latin typeface="Segoe UI"/>
              </a:rPr>
              <a:t>Pour les salariés réalisant au moins 15 activités physiques sur l'année, attestées par le flux de données sportives.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04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01 / OBJECTIFS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Ce que le POC doit prouver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3429000" cy="30175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34290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34D399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4F4F5"/>
                </a:solidFill>
                <a:latin typeface="Segoe UI"/>
              </a:rPr>
              <a:t>Faisabilité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43400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4A3B8"/>
                </a:solidFill>
                <a:latin typeface="Segoe UI"/>
              </a:rPr>
              <a:t>Un pipeline qui tourne de bout en bout, automatisé et reproductible.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2377440"/>
            <a:ext cx="3429000" cy="30175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2377440"/>
            <a:ext cx="342900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1999" y="265176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A855F7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36576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4F4F5"/>
                </a:solidFill>
                <a:latin typeface="Segoe UI"/>
              </a:rPr>
              <a:t>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4343400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4A3B8"/>
                </a:solidFill>
                <a:latin typeface="Segoe UI"/>
              </a:rPr>
              <a:t>Identifier et structurer les données — dont des données RH sensibles.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2377440"/>
            <a:ext cx="3429000" cy="30175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2377440"/>
            <a:ext cx="34290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265176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34D399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36576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4F4F5"/>
                </a:solidFill>
                <a:latin typeface="Segoe UI"/>
              </a:rPr>
              <a:t>Impact financier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4343400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4A3B8"/>
                </a:solidFill>
                <a:latin typeface="Segoe UI"/>
              </a:rPr>
              <a:t>Chiffrer le coût, et le recalculer si un paramètre change.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05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7315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 i="0">
                <a:solidFill>
                  <a:srgbClr val="8405FF"/>
                </a:solidFill>
                <a:latin typeface="Consolas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331720"/>
            <a:ext cx="54864" cy="219456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651760"/>
            <a:ext cx="7132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A855F7"/>
                </a:solidFill>
                <a:latin typeface="Consolas"/>
              </a:rPr>
              <a:t>/</a:t>
            </a:r>
            <a:r>
              <a:rPr sz="3400" b="1" i="0">
                <a:solidFill>
                  <a:srgbClr val="FFFFFF"/>
                </a:solidFill>
                <a:latin typeface="Segoe UI"/>
              </a:rPr>
              <a:t> 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65760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Segoe UI"/>
              </a:rPr>
              <a:t>Un flux orchestré, trois couches de données.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02 /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Un flux orchestré, trois couches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55F7"/>
                </a:solidFill>
                <a:latin typeface="Consolas"/>
              </a:rPr>
              <a:t>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2743200" cy="77724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274320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679192"/>
            <a:ext cx="2414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4F5"/>
                </a:solidFill>
                <a:latin typeface="Segoe UI"/>
              </a:rPr>
              <a:t>Fichiers RH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118104"/>
            <a:ext cx="241401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161 salariés · PII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29000"/>
            <a:ext cx="2743200" cy="77724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274320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593592"/>
            <a:ext cx="2414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4F5"/>
                </a:solidFill>
                <a:latin typeface="Segoe UI"/>
              </a:rPr>
              <a:t>Pratiques sportives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032504"/>
            <a:ext cx="241401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déclaratif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343400"/>
            <a:ext cx="2743200" cy="77724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343400"/>
            <a:ext cx="274320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507992"/>
            <a:ext cx="2414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4F5"/>
                </a:solidFill>
                <a:latin typeface="Segoe UI"/>
              </a:rPr>
              <a:t>Générateur Strava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946904"/>
            <a:ext cx="241401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JSON façon API · 3948 act.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429000" y="3566160"/>
            <a:ext cx="41148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21945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34D399"/>
                </a:solidFill>
                <a:latin typeface="Consolas"/>
              </a:rPr>
              <a:t>POSTGRESQL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2514600"/>
            <a:ext cx="3657600" cy="260604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23360" y="2514600"/>
            <a:ext cx="36576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87952" y="2679192"/>
            <a:ext cx="3328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4F5"/>
                </a:solidFill>
                <a:latin typeface="Segoe UI"/>
              </a:rPr>
              <a:t>Base sécurisée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87952" y="3118104"/>
            <a:ext cx="3328416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raw (JSON Strava)  →  staging  →  marts
+ audit (monitoring)
+ cache (Google Maps)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18120" y="3566160"/>
            <a:ext cx="41148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21945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34D399"/>
                </a:solidFill>
                <a:latin typeface="Consolas"/>
              </a:rPr>
              <a:t>VALIDATION &amp; SORTIES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200" y="2514600"/>
            <a:ext cx="3154680" cy="77724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58200" y="2514600"/>
            <a:ext cx="31546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22792" y="2679192"/>
            <a:ext cx="2825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4F5"/>
                </a:solidFill>
                <a:latin typeface="Segoe UI"/>
              </a:rPr>
              <a:t>Validation géo + qualité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2792" y="3118104"/>
            <a:ext cx="282549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Google Maps · Great Expectations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3429000"/>
            <a:ext cx="3154680" cy="77724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58200" y="3429000"/>
            <a:ext cx="31546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22792" y="3593592"/>
            <a:ext cx="2825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4F5"/>
                </a:solidFill>
                <a:latin typeface="Segoe UI"/>
              </a:rPr>
              <a:t>Calcul des avantages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22792" y="4032504"/>
            <a:ext cx="282549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prime · bien-être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58200" y="4343400"/>
            <a:ext cx="1481328" cy="77724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58200" y="4343400"/>
            <a:ext cx="1481328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22792" y="4507992"/>
            <a:ext cx="1152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4F5"/>
                </a:solidFill>
                <a:latin typeface="Segoe UI"/>
              </a:rPr>
              <a:t>Slack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22792" y="4946904"/>
            <a:ext cx="115214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messages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49840" y="4343400"/>
            <a:ext cx="1463040" cy="77724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49840" y="4343400"/>
            <a:ext cx="146304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14432" y="4507992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4F5"/>
                </a:solidFill>
                <a:latin typeface="Segoe UI"/>
              </a:rPr>
              <a:t>PowerBI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14432" y="4946904"/>
            <a:ext cx="113385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KPIs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440680"/>
            <a:ext cx="11064240" cy="59436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559552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4D399"/>
                </a:solidFill>
                <a:latin typeface="Consolas"/>
              </a:rPr>
              <a:t>KESTRA  </a:t>
            </a:r>
            <a:r>
              <a:rPr sz="1250" b="0" i="0">
                <a:solidFill>
                  <a:srgbClr val="F4F4F5"/>
                </a:solidFill>
                <a:latin typeface="Segoe UI"/>
              </a:rPr>
              <a:t>orchestre le tout — trigger mensuel, replay, monitoring, alertes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07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02 / CHOIX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La bonne brique pour chaque besoin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11064240" cy="41148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34D399"/>
                </a:solidFill>
                <a:latin typeface="Consolas"/>
              </a:rPr>
              <a:t>BRIQUE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286000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34D399"/>
                </a:solidFill>
                <a:latin typeface="Consolas"/>
              </a:rPr>
              <a:t>OUTIL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286000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34D399"/>
                </a:solidFill>
                <a:latin typeface="Consolas"/>
              </a:rPr>
              <a:t>POURQUOI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51760"/>
            <a:ext cx="11064240" cy="5029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15768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Orchestration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15768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Kestra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715768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Replay de l'historique, monitoring, trigger cron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Base de 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218688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PostgreSQL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218688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Rôles, RLS, audit — adapté aux PII RH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57600"/>
            <a:ext cx="11064240" cy="5029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21608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Traitement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721608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Python + pandas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721608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Extraction, génération, calculs métier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24528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Qualité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224528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Great Expectations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224528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Tests déclaratifs, bloquants si échec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63440"/>
            <a:ext cx="11064240" cy="5029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27448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Géocodage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727448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Google Maps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4727448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Distance réelle domicile-travail (+ cache)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30368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Restitution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230368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PowerBI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5230368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KPIs, paramètre de taux dynamique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733288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Conteneurs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733288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Docker Compose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5733288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Stack reproductible en une commande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08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7315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 i="0">
                <a:solidFill>
                  <a:srgbClr val="10B981"/>
                </a:solidFill>
                <a:latin typeface="Consolas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331720"/>
            <a:ext cx="54864" cy="219456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651760"/>
            <a:ext cx="7132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34D399"/>
                </a:solidFill>
                <a:latin typeface="Consolas"/>
              </a:rPr>
              <a:t>/</a:t>
            </a:r>
            <a:r>
              <a:rPr sz="3400" b="1" i="0">
                <a:solidFill>
                  <a:srgbClr val="FFFFFF"/>
                </a:solidFill>
                <a:latin typeface="Segoe UI"/>
              </a:rPr>
              <a:t>  Pipeline &amp; qualité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65760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Segoe UI"/>
              </a:rPr>
              <a:t>Huit étapes, et trois lignes de défense sur la donnée.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03 /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De la source à la restitution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23774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37744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Extract RH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6148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fichiers → base</a:t>
            </a:r>
          </a:p>
        </p:txBody>
      </p:sp>
      <p:sp>
        <p:nvSpPr>
          <p:cNvPr id="11" name="Oval 10"/>
          <p:cNvSpPr/>
          <p:nvPr/>
        </p:nvSpPr>
        <p:spPr>
          <a:xfrm>
            <a:off x="3337560" y="2377440"/>
            <a:ext cx="640080" cy="640080"/>
          </a:xfrm>
          <a:prstGeom prst="ellipse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37744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Extract sport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76148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pratiques</a:t>
            </a:r>
          </a:p>
        </p:txBody>
      </p:sp>
      <p:sp>
        <p:nvSpPr>
          <p:cNvPr id="14" name="Oval 13"/>
          <p:cNvSpPr/>
          <p:nvPr/>
        </p:nvSpPr>
        <p:spPr>
          <a:xfrm>
            <a:off x="6126479" y="23774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19" y="237744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Générer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19" y="276148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raw : JSON Strava</a:t>
            </a:r>
          </a:p>
        </p:txBody>
      </p:sp>
      <p:sp>
        <p:nvSpPr>
          <p:cNvPr id="17" name="Oval 16"/>
          <p:cNvSpPr/>
          <p:nvPr/>
        </p:nvSpPr>
        <p:spPr>
          <a:xfrm>
            <a:off x="8915399" y="2377440"/>
            <a:ext cx="640080" cy="640080"/>
          </a:xfrm>
          <a:prstGeom prst="ellipse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39" y="237744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Transformer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39" y="276148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raw → staging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1605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605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Valider géo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54456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Google Maps</a:t>
            </a:r>
          </a:p>
        </p:txBody>
      </p:sp>
      <p:sp>
        <p:nvSpPr>
          <p:cNvPr id="23" name="Oval 22"/>
          <p:cNvSpPr/>
          <p:nvPr/>
        </p:nvSpPr>
        <p:spPr>
          <a:xfrm>
            <a:off x="3337560" y="4160520"/>
            <a:ext cx="640080" cy="640080"/>
          </a:xfrm>
          <a:prstGeom prst="ellipse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1605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Qualité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54456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Great Expectations</a:t>
            </a:r>
          </a:p>
        </p:txBody>
      </p:sp>
      <p:sp>
        <p:nvSpPr>
          <p:cNvPr id="26" name="Oval 25"/>
          <p:cNvSpPr/>
          <p:nvPr/>
        </p:nvSpPr>
        <p:spPr>
          <a:xfrm>
            <a:off x="6126479" y="41605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19" y="41605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Calculer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19" y="454456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prime + bien-être</a:t>
            </a:r>
          </a:p>
        </p:txBody>
      </p:sp>
      <p:sp>
        <p:nvSpPr>
          <p:cNvPr id="29" name="Oval 28"/>
          <p:cNvSpPr/>
          <p:nvPr/>
        </p:nvSpPr>
        <p:spPr>
          <a:xfrm>
            <a:off x="8915399" y="4160520"/>
            <a:ext cx="640080" cy="640080"/>
          </a:xfrm>
          <a:prstGeom prst="ellipse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onsolas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39" y="41605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Notifier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39" y="454456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Slack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541264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Échec d'une étape  →  </a:t>
            </a:r>
            <a:r>
              <a:rPr sz="1200" b="0" i="0">
                <a:solidFill>
                  <a:srgbClr val="F4F4F5"/>
                </a:solidFill>
                <a:latin typeface="Segoe UI"/>
              </a:rPr>
              <a:t>le pipeline s'arrête et alerte sur Slack. Jamais de calcul sur données douteuses.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03 / QUALITÉ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Trois lignes de défense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11064240" cy="10515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251460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0F1117"/>
                </a:solidFill>
                <a:latin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0487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4F4F5"/>
                </a:solidFill>
                <a:latin typeface="Segoe UI"/>
              </a:rPr>
              <a:t>Contraintes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2549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4A3B8"/>
                </a:solidFill>
                <a:latin typeface="Segoe UI"/>
              </a:rPr>
              <a:t>À l'entrée en base : distance ≥ 0, dates valides, transport dans une liste fermée. Rejet immédiat.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29000"/>
            <a:ext cx="11064240" cy="10515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11064240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3703320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0F1117"/>
                </a:solidFill>
                <a:latin typeface="Consola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59359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4F4F5"/>
                </a:solidFill>
                <a:latin typeface="Segoe UI"/>
              </a:rPr>
              <a:t>Great Expectations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014215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4A3B8"/>
                </a:solidFill>
                <a:latin typeface="Segoe UI"/>
              </a:rPr>
              <a:t>Règles métier déclaratives, bloquantes. A détecté un vrai bug : des activités datées dans le futur.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17720"/>
            <a:ext cx="11064240" cy="10515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617720"/>
            <a:ext cx="1106424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892040"/>
            <a:ext cx="502920" cy="502920"/>
          </a:xfrm>
          <a:prstGeom prst="ellipse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0F1117"/>
                </a:solidFill>
                <a:latin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78231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4F4F5"/>
                </a:solidFill>
                <a:latin typeface="Segoe UI"/>
              </a:rPr>
              <a:t>Validation géographique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20293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4A3B8"/>
                </a:solidFill>
                <a:latin typeface="Segoe UI"/>
              </a:rPr>
              <a:t>Déclaration « marche » mais domicile à 50 km ? Google Maps calcule la distance réelle → anomalie.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7315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 i="0">
                <a:solidFill>
                  <a:srgbClr val="8405FF"/>
                </a:solidFill>
                <a:latin typeface="Consolas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331720"/>
            <a:ext cx="54864" cy="219456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651760"/>
            <a:ext cx="7132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A855F7"/>
                </a:solidFill>
                <a:latin typeface="Consolas"/>
              </a:rPr>
              <a:t>/</a:t>
            </a:r>
            <a:r>
              <a:rPr sz="3400" b="1" i="0">
                <a:solidFill>
                  <a:srgbClr val="FFFFFF"/>
                </a:solidFill>
                <a:latin typeface="Segoe UI"/>
              </a:rPr>
              <a:t>  Sécurité &amp; données personnelles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65760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Segoe UI"/>
              </a:rPr>
              <a:t>Des données RH : cloisonnées, pseudonymisées, tracées.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04 / SÉCURITÉ &amp; RGPD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Des données RH, donc cloisonnées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6949440" cy="33832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694944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34D399"/>
                </a:solidFill>
                <a:latin typeface="Consolas"/>
              </a:rPr>
              <a:t>MESURES EN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63093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F4F4F5"/>
                </a:solidFill>
                <a:latin typeface="Segoe UI"/>
              </a:rPr>
              <a:t>3 rôles PostgreSQL : l'analyste ne voit jamais les noms ni salaires en clair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F4F4F5"/>
                </a:solidFill>
                <a:latin typeface="Segoe UI"/>
              </a:rPr>
              <a:t>Pseudonymisation : hash salé des identités, salaires en tranches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F4F4F5"/>
                </a:solidFill>
                <a:latin typeface="Segoe UI"/>
              </a:rPr>
              <a:t>Row Level Security + triggers d'audit (traçabilité RGPD)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F4F4F5"/>
                </a:solidFill>
                <a:latin typeface="Segoe UI"/>
              </a:rPr>
              <a:t>Aucun secret dans le code — variables d'environnement, .gitignore strict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2194560"/>
            <a:ext cx="3886200" cy="338328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2194560"/>
            <a:ext cx="388620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4688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A855F7"/>
                </a:solidFill>
                <a:latin typeface="Consolas"/>
              </a:rPr>
              <a:t>AUDIT DE SÉCURITÉ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97180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000" b="1" i="0">
                <a:solidFill>
                  <a:srgbClr val="10B981"/>
                </a:solidFill>
                <a:latin typeface="Consolas"/>
              </a:rPr>
              <a:t>8 /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02336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4F4F5"/>
                </a:solidFill>
                <a:latin typeface="Segoe UI"/>
              </a:rPr>
              <a:t>vulnérabilités corrigées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66344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Bandit : 0 faille critique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Socket Docker retiré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Dépendances à jour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04 / DONNÉES PERSONNELLES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Le cycle de vie d'une donnée RH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4A3B8"/>
                </a:solidFill>
                <a:latin typeface="Segoe UI"/>
              </a:rPr>
              <a:t>La même donnée, trois niveaux d'exposition selon la couche.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3383280" cy="23317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338328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59" y="2926080"/>
            <a:ext cx="1371600" cy="365760"/>
          </a:xfrm>
          <a:prstGeom prst="round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2044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Reflet brut du fichier RH. Nom, salaire, adresse en clair. Pipeline seul.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" y="4526280"/>
            <a:ext cx="2834640" cy="41148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57200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855F7"/>
                </a:solidFill>
                <a:latin typeface="Consolas"/>
              </a:rPr>
              <a:t>Le Gall · 42 000 € · Lattes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31920" y="3657600"/>
            <a:ext cx="41148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697480"/>
            <a:ext cx="3383280" cy="23317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2697480"/>
            <a:ext cx="33832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63440" y="2926080"/>
            <a:ext cx="137160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STAGING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52044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Typé et hashé. PII en clair présentes mais cloisonnées par Row Level Security.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4526280"/>
            <a:ext cx="2834640" cy="41148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57200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855F7"/>
                </a:solidFill>
                <a:latin typeface="Consolas"/>
              </a:rPr>
              <a:t>Le Gall + hash a3f9c2…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772400" y="3657600"/>
            <a:ext cx="41148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2697480"/>
            <a:ext cx="3383280" cy="23317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2697480"/>
            <a:ext cx="3383280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03920" y="2926080"/>
            <a:ext cx="1371600" cy="36576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MARTS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52044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Sortie analytique. Zéro PII : hash + tranche de salaire. Tout ce que voit PowerBI.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4526280"/>
            <a:ext cx="2834640" cy="41148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13648" y="457200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855F7"/>
                </a:solidFill>
                <a:latin typeface="Consolas"/>
              </a:rPr>
              <a:t>a3f9c2… · BU Tech · 40-50 k€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303520"/>
            <a:ext cx="11064240" cy="68580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413248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etl_writer </a:t>
            </a:r>
            <a:r>
              <a:rPr sz="1200" b="0" i="0">
                <a:solidFill>
                  <a:srgbClr val="F4F4F5"/>
                </a:solidFill>
                <a:latin typeface="Segoe UI"/>
              </a:rPr>
              <a:t>écrit/lit les PII   ·   </a:t>
            </a:r>
            <a:r>
              <a:rPr sz="1200" b="1" i="0">
                <a:solidFill>
                  <a:srgbClr val="34D399"/>
                </a:solidFill>
                <a:latin typeface="Consolas"/>
              </a:rPr>
              <a:t>analyst_reader / powerbi_reader </a:t>
            </a:r>
            <a:r>
              <a:rPr sz="1200" b="0" i="0">
                <a:solidFill>
                  <a:srgbClr val="F4F4F5"/>
                </a:solidFill>
                <a:latin typeface="Segoe UI"/>
              </a:rPr>
              <a:t>lisent marts — jamais de PII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7315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 i="0">
                <a:solidFill>
                  <a:srgbClr val="10B981"/>
                </a:solidFill>
                <a:latin typeface="Consolas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331720"/>
            <a:ext cx="54864" cy="219456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651760"/>
            <a:ext cx="7132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34D399"/>
                </a:solidFill>
                <a:latin typeface="Consolas"/>
              </a:rPr>
              <a:t>/</a:t>
            </a:r>
            <a:r>
              <a:rPr sz="3400" b="1" i="0">
                <a:solidFill>
                  <a:srgbClr val="FFFFFF"/>
                </a:solidFill>
                <a:latin typeface="Segoe UI"/>
              </a:rPr>
              <a:t>  Monitoring &amp; résultats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65760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Segoe UI"/>
              </a:rPr>
              <a:t>Chaque run tracé ; l'impact financier chiffré.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05 /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Chaque exécution est tracée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212080" cy="333756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52120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34D399"/>
                </a:solidFill>
                <a:latin typeface="Consolas"/>
              </a:rPr>
              <a:t>DERNIER RUN KESTRA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10B981"/>
                </a:solidFill>
                <a:latin typeface="Segoe UI"/>
              </a:rPr>
              <a:t>SUCCESS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7763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4F4F5"/>
                </a:solidFill>
                <a:latin typeface="Consolas"/>
              </a:rPr>
              <a:t>12 / 12 tâches  ·  ~20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1772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Volumétrie + durée par étape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Alerte Slack automatique si échec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Tests visibles + replay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2240280"/>
            <a:ext cx="5623560" cy="33375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2240280"/>
            <a:ext cx="562356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4688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Consolas"/>
              </a:rPr>
              <a:t>audit.run_log (extrait)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9260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94A3B8"/>
                </a:solidFill>
                <a:latin typeface="Consolas"/>
              </a:rPr>
              <a:t>ÉTAPE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9260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94A3B8"/>
                </a:solidFill>
                <a:latin typeface="Consolas"/>
              </a:rPr>
              <a:t>LIGNES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2926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94A3B8"/>
                </a:solidFill>
                <a:latin typeface="Consolas"/>
              </a:rPr>
              <a:t>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273552"/>
            <a:ext cx="5349240" cy="420624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310128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4F4F5"/>
                </a:solidFill>
                <a:latin typeface="Consolas"/>
              </a:rPr>
              <a:t>extract_rh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310128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A855F7"/>
                </a:solidFill>
                <a:latin typeface="Consolas"/>
              </a:rPr>
              <a:t>161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331012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0B981"/>
                </a:solidFill>
                <a:latin typeface="Consolas"/>
              </a:rPr>
              <a:t>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749039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4F4F5"/>
                </a:solidFill>
                <a:latin typeface="Consolas"/>
              </a:rPr>
              <a:t>generate_activities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749039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A855F7"/>
                </a:solidFill>
                <a:latin typeface="Consolas"/>
              </a:rPr>
              <a:t>3948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3749039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0B981"/>
                </a:solidFill>
                <a:latin typeface="Consolas"/>
              </a:rPr>
              <a:t>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4151376"/>
            <a:ext cx="5349240" cy="420624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187952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4F4F5"/>
                </a:solidFill>
                <a:latin typeface="Consolas"/>
              </a:rPr>
              <a:t>transform_activities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187952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A855F7"/>
                </a:solidFill>
                <a:latin typeface="Consolas"/>
              </a:rPr>
              <a:t>3948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4187952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0B981"/>
                </a:solidFill>
                <a:latin typeface="Consolas"/>
              </a:rPr>
              <a:t>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626864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4F4F5"/>
                </a:solidFill>
                <a:latin typeface="Consolas"/>
              </a:rPr>
              <a:t>validate_quality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4626864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A855F7"/>
                </a:solidFill>
                <a:latin typeface="Consolas"/>
              </a:rPr>
              <a:t>3948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4626864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0B981"/>
                </a:solidFill>
                <a:latin typeface="Consolas"/>
              </a:rPr>
              <a:t>OK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5029200"/>
            <a:ext cx="5349240" cy="420624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506577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4F4F5"/>
                </a:solidFill>
                <a:latin typeface="Consolas"/>
              </a:rPr>
              <a:t>compute_advantages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506577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A855F7"/>
                </a:solidFill>
                <a:latin typeface="Consolas"/>
              </a:rPr>
              <a:t>68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5065776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0B981"/>
                </a:solidFill>
                <a:latin typeface="Consolas"/>
              </a:rPr>
              <a:t>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5504688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4F4F5"/>
                </a:solidFill>
                <a:latin typeface="Consolas"/>
              </a:rPr>
              <a:t>post_slack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5504688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A855F7"/>
                </a:solidFill>
                <a:latin typeface="Consolas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550468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0B981"/>
                </a:solidFill>
                <a:latin typeface="Consolas"/>
              </a:rPr>
              <a:t>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05 / RÉSULTATS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Ce que coûtent les avantages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3566160" cy="160020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356616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54203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0B981"/>
                </a:solidFill>
                <a:latin typeface="Consolas"/>
              </a:rPr>
              <a:t>172 482 €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3375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coût annuel de la prime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286000"/>
            <a:ext cx="3566160" cy="160020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286000"/>
            <a:ext cx="3566160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54203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34D399"/>
                </a:solidFill>
                <a:latin typeface="Consolas"/>
              </a:rPr>
              <a:t>68 / 161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375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éligibles à la prime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286000"/>
            <a:ext cx="3566160" cy="160020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286000"/>
            <a:ext cx="3566160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54203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34D399"/>
                </a:solidFill>
                <a:latin typeface="Consola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3375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déclaration suspecte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69080"/>
            <a:ext cx="3566160" cy="160020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069080"/>
            <a:ext cx="356616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32511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8405FF"/>
                </a:solidFill>
                <a:latin typeface="Consolas"/>
              </a:rPr>
              <a:t>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51206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éligibles bien-être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069080"/>
            <a:ext cx="3566160" cy="160020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4069080"/>
            <a:ext cx="3566160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32511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A855F7"/>
                </a:solidFill>
                <a:latin typeface="Consolas"/>
              </a:rPr>
              <a:t>220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1206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jours bien-être accordés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4069080"/>
            <a:ext cx="3566160" cy="160020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4069080"/>
            <a:ext cx="3566160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432511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A855F7"/>
                </a:solidFill>
                <a:latin typeface="Consolas"/>
              </a:rPr>
              <a:t>3 948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1206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activités analysées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B7A"/>
                </a:solidFill>
                <a:latin typeface="Segoe UI"/>
              </a:rPr>
              <a:t>Tous ces chiffres se recalculent en un clic si le taux de prime change.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7315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 i="0">
                <a:solidFill>
                  <a:srgbClr val="10B981"/>
                </a:solidFill>
                <a:latin typeface="Consolas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331720"/>
            <a:ext cx="54864" cy="219456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651760"/>
            <a:ext cx="7132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34D399"/>
                </a:solidFill>
                <a:latin typeface="Consolas"/>
              </a:rPr>
              <a:t>/</a:t>
            </a:r>
            <a:r>
              <a:rPr sz="3400" b="1" i="0">
                <a:solidFill>
                  <a:srgbClr val="FFFFFF"/>
                </a:solidFill>
                <a:latin typeface="Segoe UI"/>
              </a:rPr>
              <a:t>  Démo &amp; industrialisation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65760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Segoe UI"/>
              </a:rPr>
              <a:t>La démo live, puis le chemin vers la production.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06 / 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Deux scénarios en direct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5349240" cy="329184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534924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560320"/>
            <a:ext cx="182880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SCÉNARIO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4F4F5"/>
                </a:solidFill>
                <a:latin typeface="Segoe UI"/>
              </a:rPr>
              <a:t>Changer le taux de prime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4663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94A3B8"/>
                </a:solidFill>
                <a:latin typeface="Segoe UI"/>
              </a:rPr>
              <a:t>1. Passer le taux de 5 % à 7 % dans Kestra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94A3B8"/>
                </a:solidFill>
                <a:latin typeface="Segoe UI"/>
              </a:rPr>
              <a:t>2. Relancer le pipeline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94A3B8"/>
                </a:solidFill>
                <a:latin typeface="Segoe UI"/>
              </a:rPr>
              <a:t>3. Le coût total évolue dans PowerBI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286000"/>
            <a:ext cx="5349240" cy="329184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286000"/>
            <a:ext cx="534924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29400" y="2560320"/>
            <a:ext cx="1828800" cy="365760"/>
          </a:xfrm>
          <a:prstGeom prst="round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SCÉNARIO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2004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4F4F5"/>
                </a:solidFill>
                <a:latin typeface="Segoe UI"/>
              </a:rPr>
              <a:t>Insérer une activité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886200"/>
            <a:ext cx="4663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94A3B8"/>
                </a:solidFill>
                <a:latin typeface="Segoe UI"/>
              </a:rPr>
              <a:t>1. Ajouter une nouvelle course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94A3B8"/>
                </a:solidFill>
                <a:latin typeface="Segoe UI"/>
              </a:rPr>
              <a:t>2. Le message arrive dans Slack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94A3B8"/>
                </a:solidFill>
                <a:latin typeface="Segoe UI"/>
              </a:rPr>
              <a:t>3. L'activité apparaît dans le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06 / INDUSTRIALISATION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Pensé pour passer en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34D399"/>
                </a:solidFill>
                <a:latin typeface="Consolas"/>
              </a:rPr>
              <a:t>DÉJÀ EN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2402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A855F7"/>
                </a:solidFill>
                <a:latin typeface="Consolas"/>
              </a:rPr>
              <a:t>PROCHAINES ÉTAPES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5394960" cy="8686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539496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2549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F4F5"/>
                </a:solidFill>
                <a:latin typeface="Segoe UI"/>
              </a:rPr>
              <a:t>Reproductible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0954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Stack conteneurisée, démarrage en une commande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03320"/>
            <a:ext cx="5394960" cy="8686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539496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3133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F4F5"/>
                </a:solidFill>
                <a:latin typeface="Segoe UI"/>
              </a:rPr>
              <a:t>Idempotent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1538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Rejouable sans doublons (Slack, calculs)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09160"/>
            <a:ext cx="5394960" cy="8686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709160"/>
            <a:ext cx="539496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3717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F4F5"/>
                </a:solidFill>
                <a:latin typeface="Segoe UI"/>
              </a:rPr>
              <a:t>Observable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2122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Tests visibles, alerte Slack, rapport GE exporté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697480"/>
            <a:ext cx="5394960" cy="8686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697480"/>
            <a:ext cx="539496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82549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F4F5"/>
                </a:solidFill>
                <a:latin typeface="Segoe UI"/>
              </a:rPr>
              <a:t>API Strava réelle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20954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Remplacer le générateur par les vraies données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703320"/>
            <a:ext cx="5394960" cy="8686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703320"/>
            <a:ext cx="539496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83133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F4F5"/>
                </a:solidFill>
                <a:latin typeface="Segoe UI"/>
              </a:rPr>
              <a:t>CI/CD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21538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Tests + audit sécurité à chaque commit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709160"/>
            <a:ext cx="5394960" cy="8686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709160"/>
            <a:ext cx="539496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83717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F4F5"/>
                </a:solidFill>
                <a:latin typeface="Segoe UI"/>
              </a:rPr>
              <a:t>Secret manager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22122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Rotation des secrets en production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97280"/>
            <a:ext cx="2194560" cy="365760"/>
          </a:xfrm>
          <a:prstGeom prst="round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34D399"/>
                </a:solidFill>
                <a:latin typeface="Consola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37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Le POC valide les trois objectifs.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10B981"/>
                </a:solidFill>
                <a:latin typeface="Segoe UI"/>
              </a:rPr>
              <a:t>✓  </a:t>
            </a:r>
            <a:r>
              <a:rPr sz="1600" b="0" i="0">
                <a:solidFill>
                  <a:srgbClr val="F4F4F5"/>
                </a:solidFill>
                <a:latin typeface="Segoe UI"/>
              </a:rPr>
              <a:t>Faisable : pipeline complet, vert, en ~20 secondes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10B981"/>
                </a:solidFill>
                <a:latin typeface="Segoe UI"/>
              </a:rPr>
              <a:t>✓  </a:t>
            </a:r>
            <a:r>
              <a:rPr sz="1600" b="0" i="0">
                <a:solidFill>
                  <a:srgbClr val="F4F4F5"/>
                </a:solidFill>
                <a:latin typeface="Segoe UI"/>
              </a:rPr>
              <a:t>Données maîtrisées : sensibles, cloisonnées, tracées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10B981"/>
                </a:solidFill>
                <a:latin typeface="Segoe UI"/>
              </a:rPr>
              <a:t>✓  </a:t>
            </a:r>
            <a:r>
              <a:rPr sz="1600" b="0" i="0">
                <a:solidFill>
                  <a:srgbClr val="F4F4F5"/>
                </a:solidFill>
                <a:latin typeface="Segoe UI"/>
              </a:rPr>
              <a:t>Coût chiffré et pilotable : 172 482 € / an, recalculable à la demande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440680"/>
            <a:ext cx="1083564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559552"/>
            <a:ext cx="10424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1117"/>
                </a:solidFill>
                <a:latin typeface="Segoe UI"/>
              </a:rPr>
              <a:t>Recommandation : industrialiser, en commençant par l'intégration Strava.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92640" y="0"/>
            <a:ext cx="2496312" cy="685800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2286000"/>
            <a:ext cx="1737360" cy="1737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4206240"/>
            <a:ext cx="237744" cy="82296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52760" y="4206240"/>
            <a:ext cx="237744" cy="1188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18520" y="4206240"/>
            <a:ext cx="237744" cy="5486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000" b="1" i="0">
                <a:solidFill>
                  <a:srgbClr val="FFFFFF"/>
                </a:solidFill>
                <a:latin typeface="Segoe UI"/>
              </a:rPr>
              <a:t>Merci.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34D399"/>
                </a:solidFill>
                <a:latin typeface="Segoe UI"/>
              </a:rPr>
              <a:t>Place à la discussion et à la démonstration.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A"/>
                </a:solidFill>
                <a:latin typeface="Segoe UI"/>
              </a:rPr>
              <a:t>Morgan Le Gall — POC Avantages Sportifs — Sport Data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